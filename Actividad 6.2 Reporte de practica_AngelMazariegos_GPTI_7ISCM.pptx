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316" r:id="rId5"/>
    <p:sldId id="317" r:id="rId6"/>
    <p:sldId id="319" r:id="rId7"/>
    <p:sldId id="318" r:id="rId8"/>
    <p:sldId id="266" r:id="rId9"/>
    <p:sldId id="315" r:id="rId10"/>
    <p:sldId id="29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85" d="100"/>
          <a:sy n="85" d="100"/>
        </p:scale>
        <p:origin x="40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8.xml" /></Relationships>
</file>

<file path=ppt/slides/_rels/slide6.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18.xml" /></Relationships>
</file>

<file path=ppt/slides/_rels/slide7.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18.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standalone="yes"?>
<Relationships xmlns="http://schemas.openxmlformats.org/package/2006/relationships"><Relationship Id="rId3" Type="http://schemas.openxmlformats.org/officeDocument/2006/relationships/hyperlink" Target="https://share.google/nAQR2cSbaZSGzipHb" TargetMode="External" /><Relationship Id="rId2" Type="http://schemas.openxmlformats.org/officeDocument/2006/relationships/hyperlink" Target="https://share.google/y1wjZqg7BPbPCd2OT" TargetMode="External" /><Relationship Id="rId1" Type="http://schemas.openxmlformats.org/officeDocument/2006/relationships/slideLayout" Target="../slideLayouts/slideLayout18.xml" /><Relationship Id="rId5" Type="http://schemas.openxmlformats.org/officeDocument/2006/relationships/hyperlink" Target="https://thedigitalprojectmanager.com/es/gestion-de-proyectos/mejores-metodos-cierre-de-proyectos/" TargetMode="External" /><Relationship Id="rId4" Type="http://schemas.openxmlformats.org/officeDocument/2006/relationships/hyperlink" Target="https://share.google/eSkMoa215Gbfahvyj" TargetMode="External" /></Relationships>
</file>

<file path=ppt/slides/_rels/slide10.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hyperlink" Target="https://github.com/Angel-ortiz144/GPTI--Tema-6.git" TargetMode="External" /><Relationship Id="rId1" Type="http://schemas.openxmlformats.org/officeDocument/2006/relationships/slideLayout" Target="../slideLayouts/slideLayout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Gestión de Proyectos de TI</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Séptimo </a:t>
            </a:r>
            <a:r>
              <a:rPr lang="es-MX" sz="2000" cap="none" dirty="0"/>
              <a:t>Semestre </a:t>
            </a:r>
          </a:p>
          <a:p>
            <a:endParaRPr lang="es-MX" sz="2000" dirty="0"/>
          </a:p>
          <a:p>
            <a:r>
              <a:rPr lang="es-MX" sz="2000" b="1" dirty="0"/>
              <a:t>Fecha:</a:t>
            </a:r>
          </a:p>
          <a:p>
            <a:r>
              <a:rPr lang="es-US" sz="2000" dirty="0"/>
              <a:t>03/10/2026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sz="1800" dirty="0">
                <a:effectLst/>
              </a:rPr>
              <a:t>La fase de Evaluación y Cierre de Proyectos constituye la etapa final del ciclo de vida de la gestión de proyectos informáticos de acuerdo con el marco de referencia PMBOK. En el ámbito de las Tecnologías de la Información (TI), el cierre no se limita a la entrega del código ejecutable; implica la verificación rigurosa del cumplimiento del alcance, la medición cuantitativa de los Indicadores Clave de Rendimiento (</a:t>
            </a:r>
            <a:r>
              <a:rPr lang="es-US" sz="1800" dirty="0" err="1">
                <a:effectLst/>
              </a:rPr>
              <a:t>KPIs</a:t>
            </a:r>
            <a:r>
              <a:rPr lang="es-US" sz="1800" dirty="0">
                <a:effectLst/>
              </a:rPr>
              <a:t>) frente a los requerimientos iniciales (FLIP), el registro sistemático del conocimiento organizacional mediante las lecciones aprendidas y la formalización de la entrega mediante el Acta de Cierre (</a:t>
            </a:r>
            <a:r>
              <a:rPr lang="es-US" sz="1800" dirty="0" err="1">
                <a:effectLst/>
              </a:rPr>
              <a:t>Sign</a:t>
            </a:r>
            <a:r>
              <a:rPr lang="es-US" sz="1800" dirty="0">
                <a:effectLst/>
              </a:rPr>
              <a:t>-off). El presente reporte consolida los resultados de la evaluación del portafolio de sistemas de TI desarrollados durante el periodo 2026: el Sistema de Evaluación y Exámenes en Línea (OAS), la Plataforma Inteligente de Logística y Rastreos en Tiempo Real (LOGIX-TRACE) y el Sistema Inteligente de Gestión Hospitalaria e Expediente Clínico Digital (SIGHECD).</a:t>
            </a:r>
            <a:endParaRPr lang="es-MX" sz="1800"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914087" y="-331799"/>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257552" y="577273"/>
            <a:ext cx="11740839" cy="6097422"/>
          </a:xfrm>
        </p:spPr>
        <p:txBody>
          <a:bodyPr>
            <a:normAutofit/>
          </a:bodyPr>
          <a:lstStyle/>
          <a:p>
            <a:pPr marL="0" indent="0" algn="just">
              <a:buNone/>
            </a:pPr>
            <a:r>
              <a:rPr lang="es-US" dirty="0"/>
              <a:t>La realización de una evaluación rigurosa y el cierre formal de proyectos de tecnologías de la información es fundamental por las siguientes razones:</a:t>
            </a:r>
          </a:p>
          <a:p>
            <a:pPr algn="just"/>
            <a:r>
              <a:rPr lang="es-US" b="1" dirty="0">
                <a:solidFill>
                  <a:srgbClr val="FF0000"/>
                </a:solidFill>
              </a:rPr>
              <a:t>Validación Objetiva del Desempeño y Calidad: </a:t>
            </a:r>
            <a:r>
              <a:rPr lang="es-US" dirty="0"/>
              <a:t>Permite verificar con datos métricos reales (latencia, tiempos de procesamiento, precisión en rutas, disponibilidad </a:t>
            </a:r>
            <a:r>
              <a:rPr lang="es-US" dirty="0" err="1"/>
              <a:t>Uptime</a:t>
            </a:r>
            <a:r>
              <a:rPr lang="es-US" dirty="0"/>
              <a:t> y normativas de ciberseguridad) el cumplimiento total de los requisitos técnicos y operativos acordados. </a:t>
            </a:r>
          </a:p>
          <a:p>
            <a:pPr algn="just"/>
            <a:r>
              <a:rPr lang="es-US" b="1" dirty="0">
                <a:solidFill>
                  <a:srgbClr val="FF0000"/>
                </a:solidFill>
              </a:rPr>
              <a:t>Capitalización del Conocimiento Organizacional: </a:t>
            </a:r>
            <a:r>
              <a:rPr lang="es-US" dirty="0"/>
              <a:t>La recolección y análisis de lecciones aprendidas ante restricciones presupuestales, tecnológicas y de tiempo enriquece los Activos de Procesos de la Organización (OPA), previniendo riesgos futuros y optimizando futuros desarrollos.</a:t>
            </a:r>
          </a:p>
          <a:p>
            <a:pPr algn="just"/>
            <a:r>
              <a:rPr lang="es-US" b="1" dirty="0">
                <a:solidFill>
                  <a:srgbClr val="FF0000"/>
                </a:solidFill>
              </a:rPr>
              <a:t>Seguridad Jurídica y Transparencia Normativa: </a:t>
            </a:r>
            <a:r>
              <a:rPr lang="es-US" dirty="0"/>
              <a:t>El levantamiento del Acta de Cierre y Aceptación Final formaliza el recibimiento a satisfacción por parte de los patrocinadores o clientes, garantizando el cumplimiento de normativas de seguridad (como AES-256 o HIPAA/HL7) y respaldando la transición hacia la etapa operativa o de mantenimiento.</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2A4399-50BB-DC90-7453-8B5F100D3D82}"/>
              </a:ext>
            </a:extLst>
          </p:cNvPr>
          <p:cNvSpPr>
            <a:spLocks noGrp="1"/>
          </p:cNvSpPr>
          <p:nvPr>
            <p:ph type="title"/>
          </p:nvPr>
        </p:nvSpPr>
        <p:spPr>
          <a:xfrm>
            <a:off x="913795" y="396616"/>
            <a:ext cx="10353761" cy="1326321"/>
          </a:xfrm>
        </p:spPr>
        <p:txBody>
          <a:bodyPr/>
          <a:lstStyle/>
          <a:p>
            <a:r>
              <a:rPr lang="es-US" dirty="0"/>
              <a:t>Objetivos de la Práctica</a:t>
            </a:r>
          </a:p>
        </p:txBody>
      </p:sp>
      <p:sp>
        <p:nvSpPr>
          <p:cNvPr id="3" name="Marcador de contenido 2">
            <a:extLst>
              <a:ext uri="{FF2B5EF4-FFF2-40B4-BE49-F238E27FC236}">
                <a16:creationId xmlns:a16="http://schemas.microsoft.com/office/drawing/2014/main" id="{5DA6AC30-022D-6D28-207C-1BC5377AE428}"/>
              </a:ext>
            </a:extLst>
          </p:cNvPr>
          <p:cNvSpPr>
            <a:spLocks noGrp="1"/>
          </p:cNvSpPr>
          <p:nvPr>
            <p:ph sz="quarter" idx="13"/>
          </p:nvPr>
        </p:nvSpPr>
        <p:spPr>
          <a:xfrm>
            <a:off x="913795" y="1722937"/>
            <a:ext cx="10363826" cy="4573776"/>
          </a:xfrm>
        </p:spPr>
        <p:txBody>
          <a:bodyPr/>
          <a:lstStyle/>
          <a:p>
            <a:pPr algn="just"/>
            <a:r>
              <a:rPr lang="es-US" b="1" dirty="0">
                <a:solidFill>
                  <a:srgbClr val="FF0000"/>
                </a:solidFill>
              </a:rPr>
              <a:t>Objetivo General: </a:t>
            </a:r>
            <a:r>
              <a:rPr lang="es-US" dirty="0"/>
              <a:t>Ejecutar de manera práctica la evaluación técnica, el análisis de lecciones aprendidas y el procedimiento formal de cierre administrativo y operativo para el portafolio de proyectos de TI.</a:t>
            </a:r>
          </a:p>
          <a:p>
            <a:pPr algn="just"/>
            <a:r>
              <a:rPr lang="es-US" b="1" dirty="0">
                <a:solidFill>
                  <a:srgbClr val="FF0000"/>
                </a:solidFill>
              </a:rPr>
              <a:t>Objetivos Específicos:</a:t>
            </a:r>
          </a:p>
          <a:p>
            <a:pPr marL="457200" indent="-457200" algn="just">
              <a:buFont typeface="+mj-lt"/>
              <a:buAutoNum type="arabicPeriod"/>
            </a:pPr>
            <a:r>
              <a:rPr lang="es-US" dirty="0"/>
              <a:t>Evaluar el cumplimiento de los criterios de éxito y </a:t>
            </a:r>
            <a:r>
              <a:rPr lang="es-US" dirty="0" err="1"/>
              <a:t>KPIs</a:t>
            </a:r>
            <a:r>
              <a:rPr lang="es-US" dirty="0"/>
              <a:t> técnicos o operativos definidos en las fichas de Levantamiento Inicial de Proyecto (FLIP).</a:t>
            </a:r>
          </a:p>
          <a:p>
            <a:pPr marL="457200" indent="-457200" algn="just">
              <a:buFont typeface="+mj-lt"/>
              <a:buAutoNum type="arabicPeriod"/>
            </a:pPr>
            <a:r>
              <a:rPr lang="es-US" dirty="0"/>
              <a:t>Documentar una matriz integradora de lecciones aprendidas enfocada en la gestión de restricciones, arquitectura e infraestructura de </a:t>
            </a:r>
            <a:r>
              <a:rPr lang="es-US" dirty="0" err="1"/>
              <a:t>microservicios</a:t>
            </a:r>
            <a:r>
              <a:rPr lang="es-US" dirty="0"/>
              <a:t> y </a:t>
            </a:r>
            <a:r>
              <a:rPr lang="es-US" dirty="0" err="1"/>
              <a:t>APIs</a:t>
            </a:r>
            <a:r>
              <a:rPr lang="es-US" dirty="0"/>
              <a:t>.</a:t>
            </a:r>
          </a:p>
          <a:p>
            <a:pPr marL="457200" indent="-457200" algn="just">
              <a:buFont typeface="+mj-lt"/>
              <a:buAutoNum type="arabicPeriod"/>
            </a:pPr>
            <a:r>
              <a:rPr lang="es-US" dirty="0"/>
              <a:t>Formalizar el cierre mediante la estructuración del Acta de Aceptación Definitiva (</a:t>
            </a:r>
            <a:r>
              <a:rPr lang="es-US" dirty="0" err="1"/>
              <a:t>Sign</a:t>
            </a:r>
            <a:r>
              <a:rPr lang="es-US" dirty="0"/>
              <a:t>-off) del proyecto OAS.</a:t>
            </a:r>
          </a:p>
        </p:txBody>
      </p:sp>
    </p:spTree>
    <p:extLst>
      <p:ext uri="{BB962C8B-B14F-4D97-AF65-F5344CB8AC3E}">
        <p14:creationId xmlns:p14="http://schemas.microsoft.com/office/powerpoint/2010/main" val="129755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B643E6-E1D1-4CE3-6024-0BCEC8288FE6}"/>
              </a:ext>
            </a:extLst>
          </p:cNvPr>
          <p:cNvSpPr>
            <a:spLocks noGrp="1"/>
          </p:cNvSpPr>
          <p:nvPr>
            <p:ph type="title"/>
          </p:nvPr>
        </p:nvSpPr>
        <p:spPr>
          <a:xfrm>
            <a:off x="933904" y="-127533"/>
            <a:ext cx="10353761" cy="1326321"/>
          </a:xfrm>
        </p:spPr>
        <p:txBody>
          <a:bodyPr/>
          <a:lstStyle/>
          <a:p>
            <a:r>
              <a:rPr lang="es-US" dirty="0"/>
              <a:t>Medición del Éxito del Proyecto (</a:t>
            </a:r>
            <a:r>
              <a:rPr lang="es-US" dirty="0" err="1"/>
              <a:t>KPIs</a:t>
            </a:r>
            <a:r>
              <a:rPr lang="es-US" dirty="0"/>
              <a:t> y Resultados)</a:t>
            </a:r>
          </a:p>
        </p:txBody>
      </p:sp>
      <p:sp>
        <p:nvSpPr>
          <p:cNvPr id="3" name="Marcador de contenido 2">
            <a:extLst>
              <a:ext uri="{FF2B5EF4-FFF2-40B4-BE49-F238E27FC236}">
                <a16:creationId xmlns:a16="http://schemas.microsoft.com/office/drawing/2014/main" id="{B81BB0ED-5769-3491-116C-6B3C168E1207}"/>
              </a:ext>
            </a:extLst>
          </p:cNvPr>
          <p:cNvSpPr>
            <a:spLocks noGrp="1"/>
          </p:cNvSpPr>
          <p:nvPr>
            <p:ph sz="quarter" idx="13"/>
          </p:nvPr>
        </p:nvSpPr>
        <p:spPr>
          <a:xfrm>
            <a:off x="933904" y="1092214"/>
            <a:ext cx="10363826" cy="3424107"/>
          </a:xfrm>
        </p:spPr>
        <p:txBody>
          <a:bodyPr/>
          <a:lstStyle/>
          <a:p>
            <a:pPr marL="0" indent="0" algn="just">
              <a:buNone/>
            </a:pPr>
            <a:r>
              <a:rPr lang="es-US" dirty="0"/>
              <a:t>Para determinar la aceptación formal de los sistemas, los resultados obtenidos durante las fases de Monitoreo, Control y Pruebas de Estrés (Semana 4 a 11) se contrastaron con las métricas y metas establecidas en la línea base de los proyectos.</a:t>
            </a:r>
          </a:p>
          <a:p>
            <a:pPr marL="0" indent="0" algn="just">
              <a:buNone/>
            </a:pPr>
            <a:r>
              <a:rPr lang="es-US" b="1" dirty="0">
                <a:solidFill>
                  <a:srgbClr val="FF0000"/>
                </a:solidFill>
              </a:rPr>
              <a:t>Medición del Éxito del Proyecto (</a:t>
            </a:r>
            <a:r>
              <a:rPr lang="es-US" b="1" dirty="0" err="1">
                <a:solidFill>
                  <a:srgbClr val="FF0000"/>
                </a:solidFill>
              </a:rPr>
              <a:t>KPIs</a:t>
            </a:r>
            <a:r>
              <a:rPr lang="es-US" b="1" dirty="0">
                <a:solidFill>
                  <a:srgbClr val="FF0000"/>
                </a:solidFill>
              </a:rPr>
              <a:t> y Resultados)</a:t>
            </a:r>
          </a:p>
        </p:txBody>
      </p:sp>
      <p:pic>
        <p:nvPicPr>
          <p:cNvPr id="6" name="Imagen 5">
            <a:extLst>
              <a:ext uri="{FF2B5EF4-FFF2-40B4-BE49-F238E27FC236}">
                <a16:creationId xmlns:a16="http://schemas.microsoft.com/office/drawing/2014/main" id="{8E377E3F-DA3E-2713-4FF2-9B99FEBCA302}"/>
              </a:ext>
            </a:extLst>
          </p:cNvPr>
          <p:cNvPicPr>
            <a:picLocks noChangeAspect="1"/>
          </p:cNvPicPr>
          <p:nvPr/>
        </p:nvPicPr>
        <p:blipFill>
          <a:blip r:embed="rId2"/>
          <a:stretch>
            <a:fillRect/>
          </a:stretch>
        </p:blipFill>
        <p:spPr>
          <a:xfrm>
            <a:off x="1539986" y="2891174"/>
            <a:ext cx="9112028" cy="3721352"/>
          </a:xfrm>
          <a:prstGeom prst="rect">
            <a:avLst/>
          </a:prstGeom>
        </p:spPr>
      </p:pic>
    </p:spTree>
    <p:extLst>
      <p:ext uri="{BB962C8B-B14F-4D97-AF65-F5344CB8AC3E}">
        <p14:creationId xmlns:p14="http://schemas.microsoft.com/office/powerpoint/2010/main" val="98169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7EE90-714E-50AB-F7DF-6B7C854696A4}"/>
              </a:ext>
            </a:extLst>
          </p:cNvPr>
          <p:cNvSpPr>
            <a:spLocks noGrp="1"/>
          </p:cNvSpPr>
          <p:nvPr>
            <p:ph type="title"/>
          </p:nvPr>
        </p:nvSpPr>
        <p:spPr>
          <a:xfrm>
            <a:off x="842746" y="209950"/>
            <a:ext cx="10353761" cy="1326321"/>
          </a:xfrm>
        </p:spPr>
        <p:txBody>
          <a:bodyPr/>
          <a:lstStyle/>
          <a:p>
            <a:r>
              <a:rPr lang="es-US" dirty="0"/>
              <a:t>Lecciones Aprendidas</a:t>
            </a:r>
          </a:p>
        </p:txBody>
      </p:sp>
      <p:sp>
        <p:nvSpPr>
          <p:cNvPr id="3" name="Marcador de contenido 2">
            <a:extLst>
              <a:ext uri="{FF2B5EF4-FFF2-40B4-BE49-F238E27FC236}">
                <a16:creationId xmlns:a16="http://schemas.microsoft.com/office/drawing/2014/main" id="{1B07C40B-B6E2-0BCE-F814-57CD10A26F1A}"/>
              </a:ext>
            </a:extLst>
          </p:cNvPr>
          <p:cNvSpPr>
            <a:spLocks noGrp="1"/>
          </p:cNvSpPr>
          <p:nvPr>
            <p:ph sz="quarter" idx="13"/>
          </p:nvPr>
        </p:nvSpPr>
        <p:spPr>
          <a:xfrm>
            <a:off x="1100278" y="1390169"/>
            <a:ext cx="10363826" cy="3424107"/>
          </a:xfrm>
        </p:spPr>
        <p:txBody>
          <a:bodyPr/>
          <a:lstStyle/>
          <a:p>
            <a:pPr marL="0" indent="0" algn="just">
              <a:buNone/>
            </a:pPr>
            <a:r>
              <a:rPr lang="es-US" dirty="0"/>
              <a:t>Durante el ciclo de vida de los tres proyectos, la interacción con las restricciones tecnológicas, de tiempo y presupuestales generó hallazgos críticos que se han documentado para enriquecer los activos de procesos de la organización (OPA).   </a:t>
            </a:r>
          </a:p>
          <a:p>
            <a:pPr marL="0" indent="0" algn="just">
              <a:buNone/>
            </a:pPr>
            <a:r>
              <a:rPr lang="es-US" b="1" dirty="0">
                <a:solidFill>
                  <a:srgbClr val="FF0000"/>
                </a:solidFill>
              </a:rPr>
              <a:t>Matriz de Lecciones Aprendidas</a:t>
            </a:r>
          </a:p>
        </p:txBody>
      </p:sp>
      <p:pic>
        <p:nvPicPr>
          <p:cNvPr id="6" name="Imagen 5">
            <a:extLst>
              <a:ext uri="{FF2B5EF4-FFF2-40B4-BE49-F238E27FC236}">
                <a16:creationId xmlns:a16="http://schemas.microsoft.com/office/drawing/2014/main" id="{55B1A028-C133-43AB-D74A-98FE7F85FC96}"/>
              </a:ext>
            </a:extLst>
          </p:cNvPr>
          <p:cNvPicPr>
            <a:picLocks noChangeAspect="1"/>
          </p:cNvPicPr>
          <p:nvPr/>
        </p:nvPicPr>
        <p:blipFill>
          <a:blip r:embed="rId2"/>
          <a:stretch>
            <a:fillRect/>
          </a:stretch>
        </p:blipFill>
        <p:spPr>
          <a:xfrm>
            <a:off x="3060535" y="3219938"/>
            <a:ext cx="6070929" cy="3428112"/>
          </a:xfrm>
          <a:prstGeom prst="rect">
            <a:avLst/>
          </a:prstGeom>
        </p:spPr>
      </p:pic>
    </p:spTree>
    <p:extLst>
      <p:ext uri="{BB962C8B-B14F-4D97-AF65-F5344CB8AC3E}">
        <p14:creationId xmlns:p14="http://schemas.microsoft.com/office/powerpoint/2010/main" val="2879771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1AA05-E7E0-3FF4-2F30-4D53F29AAF7D}"/>
              </a:ext>
            </a:extLst>
          </p:cNvPr>
          <p:cNvSpPr>
            <a:spLocks noGrp="1"/>
          </p:cNvSpPr>
          <p:nvPr>
            <p:ph type="title"/>
          </p:nvPr>
        </p:nvSpPr>
        <p:spPr>
          <a:xfrm>
            <a:off x="926931" y="-100889"/>
            <a:ext cx="10353761" cy="1326321"/>
          </a:xfrm>
        </p:spPr>
        <p:txBody>
          <a:bodyPr/>
          <a:lstStyle/>
          <a:p>
            <a:r>
              <a:rPr lang="es-US" dirty="0"/>
              <a:t>Documentación Final y Cierre Formal del Proyecto OAS</a:t>
            </a:r>
          </a:p>
        </p:txBody>
      </p:sp>
      <p:sp>
        <p:nvSpPr>
          <p:cNvPr id="3" name="Marcador de contenido 2">
            <a:extLst>
              <a:ext uri="{FF2B5EF4-FFF2-40B4-BE49-F238E27FC236}">
                <a16:creationId xmlns:a16="http://schemas.microsoft.com/office/drawing/2014/main" id="{0B24C8FF-3A2F-279B-0ACF-E9D4CB125441}"/>
              </a:ext>
            </a:extLst>
          </p:cNvPr>
          <p:cNvSpPr>
            <a:spLocks noGrp="1"/>
          </p:cNvSpPr>
          <p:nvPr>
            <p:ph sz="quarter" idx="13"/>
          </p:nvPr>
        </p:nvSpPr>
        <p:spPr>
          <a:xfrm>
            <a:off x="901243" y="960031"/>
            <a:ext cx="10363826" cy="3424107"/>
          </a:xfrm>
        </p:spPr>
        <p:txBody>
          <a:bodyPr/>
          <a:lstStyle/>
          <a:p>
            <a:pPr marL="0" indent="0" algn="just">
              <a:buNone/>
            </a:pPr>
            <a:r>
              <a:rPr lang="es-US" dirty="0"/>
              <a:t>Para formalizar la finalización del proyecto Sistema de Evaluación y Exámenes en Línea (OAS), se elaboró el documento definitivo de entrega y liberación de recursos.</a:t>
            </a:r>
          </a:p>
          <a:p>
            <a:pPr marL="0" indent="0" algn="just">
              <a:buNone/>
            </a:pPr>
            <a:r>
              <a:rPr lang="es-US" b="1" dirty="0">
                <a:solidFill>
                  <a:srgbClr val="FF0000"/>
                </a:solidFill>
              </a:rPr>
              <a:t>Acta de Cierre y Aceptación Final de Proyecto</a:t>
            </a:r>
          </a:p>
        </p:txBody>
      </p:sp>
      <p:pic>
        <p:nvPicPr>
          <p:cNvPr id="6" name="Imagen 5">
            <a:extLst>
              <a:ext uri="{FF2B5EF4-FFF2-40B4-BE49-F238E27FC236}">
                <a16:creationId xmlns:a16="http://schemas.microsoft.com/office/drawing/2014/main" id="{A3D21F27-B61C-FE85-33D1-10A1D7C7248F}"/>
              </a:ext>
            </a:extLst>
          </p:cNvPr>
          <p:cNvPicPr>
            <a:picLocks noChangeAspect="1"/>
          </p:cNvPicPr>
          <p:nvPr/>
        </p:nvPicPr>
        <p:blipFill>
          <a:blip r:embed="rId2"/>
          <a:stretch>
            <a:fillRect/>
          </a:stretch>
        </p:blipFill>
        <p:spPr>
          <a:xfrm>
            <a:off x="3145891" y="2286352"/>
            <a:ext cx="6096888" cy="2797702"/>
          </a:xfrm>
          <a:prstGeom prst="rect">
            <a:avLst/>
          </a:prstGeom>
        </p:spPr>
      </p:pic>
      <p:pic>
        <p:nvPicPr>
          <p:cNvPr id="9" name="Imagen 8">
            <a:extLst>
              <a:ext uri="{FF2B5EF4-FFF2-40B4-BE49-F238E27FC236}">
                <a16:creationId xmlns:a16="http://schemas.microsoft.com/office/drawing/2014/main" id="{D317FFD8-CEBD-888B-EE99-6E3FA6581D8B}"/>
              </a:ext>
            </a:extLst>
          </p:cNvPr>
          <p:cNvPicPr>
            <a:picLocks noChangeAspect="1"/>
          </p:cNvPicPr>
          <p:nvPr/>
        </p:nvPicPr>
        <p:blipFill>
          <a:blip r:embed="rId3"/>
          <a:srcRect t="21539"/>
          <a:stretch>
            <a:fillRect/>
          </a:stretch>
        </p:blipFill>
        <p:spPr>
          <a:xfrm>
            <a:off x="3145891" y="4477016"/>
            <a:ext cx="6096888" cy="1936084"/>
          </a:xfrm>
          <a:prstGeom prst="rect">
            <a:avLst/>
          </a:prstGeom>
        </p:spPr>
      </p:pic>
    </p:spTree>
    <p:extLst>
      <p:ext uri="{BB962C8B-B14F-4D97-AF65-F5344CB8AC3E}">
        <p14:creationId xmlns:p14="http://schemas.microsoft.com/office/powerpoint/2010/main" val="1888713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308172"/>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429512" y="1231725"/>
            <a:ext cx="11190878" cy="5132806"/>
          </a:xfrm>
        </p:spPr>
        <p:txBody>
          <a:bodyPr>
            <a:noAutofit/>
          </a:bodyPr>
          <a:lstStyle/>
          <a:p>
            <a:pPr marL="0" indent="0" algn="just">
              <a:buNone/>
            </a:pPr>
            <a:r>
              <a:rPr lang="es-US" dirty="0"/>
              <a:t>Como conclusión puedo decir sobre la evaluación y contraste de los indicadores clave de desempeño (</a:t>
            </a:r>
            <a:r>
              <a:rPr lang="es-US" dirty="0" err="1"/>
              <a:t>KPIs</a:t>
            </a:r>
            <a:r>
              <a:rPr lang="es-US" dirty="0"/>
              <a:t>) demuestran que los proyectos analizados cumplen y, en varios aspectos. En el proyecto OAS, se alcanzó un tiempo de respuesta de 1.8 s con una concurrencia simulada de 1,000 estudiantes, una reducción del 82% en el tiempo de procesamiento de calificaciones automáticas y un </a:t>
            </a:r>
            <a:r>
              <a:rPr lang="es-US" dirty="0" err="1"/>
              <a:t>Uptime</a:t>
            </a:r>
            <a:r>
              <a:rPr lang="es-US" dirty="0"/>
              <a:t> continuo del 99.7%. Los proyectos LOGIX-TRACE y SIGHECD superaron satisfactoriamente los criterios de precisión logística (98.5%), tiempos de latencia (1.2 s) y altos estándares de ciberseguridad sin vulnerabilidades reportadas en pruebas de penetración (</a:t>
            </a:r>
            <a:r>
              <a:rPr lang="es-US" dirty="0" err="1"/>
              <a:t>PenTesting</a:t>
            </a:r>
            <a:r>
              <a:rPr lang="es-US" dirty="0"/>
              <a:t>). Con la elaboración e integración de la Matriz de Lecciones Aprendidas y la firma del Acta de Cierre y Aceptación Final de Proyecto de TI, se declara formalmente concluidas las actividades de desarrollo, aprobando los entregables de manera satisfactoria y otorgando el relevamiento de responsabilidades al equipo del proyecto.   </a:t>
            </a:r>
          </a:p>
        </p:txBody>
      </p:sp>
    </p:spTree>
    <p:extLst>
      <p:ext uri="{BB962C8B-B14F-4D97-AF65-F5344CB8AC3E}">
        <p14:creationId xmlns:p14="http://schemas.microsoft.com/office/powerpoint/2010/main" val="234524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76D41E-5F8B-5742-1B5B-E411020984F3}"/>
              </a:ext>
            </a:extLst>
          </p:cNvPr>
          <p:cNvSpPr>
            <a:spLocks noGrp="1"/>
          </p:cNvSpPr>
          <p:nvPr>
            <p:ph type="title"/>
          </p:nvPr>
        </p:nvSpPr>
        <p:spPr>
          <a:xfrm>
            <a:off x="425334" y="529670"/>
            <a:ext cx="10353761" cy="1326321"/>
          </a:xfrm>
        </p:spPr>
        <p:txBody>
          <a:bodyPr/>
          <a:lstStyle/>
          <a:p>
            <a:r>
              <a:rPr lang="es-US" dirty="0"/>
              <a:t>FUENTES DE INFORMACIÓN  </a:t>
            </a:r>
          </a:p>
        </p:txBody>
      </p:sp>
      <p:sp>
        <p:nvSpPr>
          <p:cNvPr id="3" name="Marcador de contenido 2">
            <a:extLst>
              <a:ext uri="{FF2B5EF4-FFF2-40B4-BE49-F238E27FC236}">
                <a16:creationId xmlns:a16="http://schemas.microsoft.com/office/drawing/2014/main" id="{573E157D-B0A2-C46A-1418-74CAB25BB009}"/>
              </a:ext>
            </a:extLst>
          </p:cNvPr>
          <p:cNvSpPr>
            <a:spLocks noGrp="1"/>
          </p:cNvSpPr>
          <p:nvPr>
            <p:ph sz="quarter" idx="13"/>
          </p:nvPr>
        </p:nvSpPr>
        <p:spPr>
          <a:xfrm>
            <a:off x="1021329" y="1789819"/>
            <a:ext cx="10611516" cy="4329272"/>
          </a:xfrm>
        </p:spPr>
        <p:txBody>
          <a:bodyPr>
            <a:normAutofit/>
          </a:bodyPr>
          <a:lstStyle/>
          <a:p>
            <a:r>
              <a:rPr lang="es-US" dirty="0"/>
              <a:t>Informe de Cierre de Proyecto PMO | PDF | Presupuesto | Planificación </a:t>
            </a:r>
            <a:r>
              <a:rPr lang="es-US" dirty="0">
                <a:hlinkClick r:id="rId2"/>
              </a:rPr>
              <a:t>https://share.google/y1wjZqg7BPbPCd2OT</a:t>
            </a:r>
            <a:r>
              <a:rPr lang="es-US" dirty="0"/>
              <a:t> </a:t>
            </a:r>
          </a:p>
          <a:p>
            <a:r>
              <a:rPr lang="es-US" dirty="0"/>
              <a:t>Evaluación y Cierre de Proyectos | PDF | Evaluación | Aprendizaje </a:t>
            </a:r>
            <a:r>
              <a:rPr lang="es-US" dirty="0">
                <a:hlinkClick r:id="rId3"/>
              </a:rPr>
              <a:t>https://share.google/nAQR2cSbaZSGzipHb</a:t>
            </a:r>
            <a:endParaRPr lang="es-US" dirty="0"/>
          </a:p>
          <a:p>
            <a:r>
              <a:rPr lang="es-US" dirty="0"/>
              <a:t>Control y Cierre del Proyecto en Administración de Proyectos – UVEG – </a:t>
            </a:r>
            <a:r>
              <a:rPr lang="es-US" dirty="0" err="1"/>
              <a:t>Studocu</a:t>
            </a:r>
            <a:r>
              <a:rPr lang="es-US" dirty="0"/>
              <a:t> </a:t>
            </a:r>
            <a:r>
              <a:rPr lang="es-US" dirty="0">
                <a:hlinkClick r:id="rId4"/>
              </a:rPr>
              <a:t>https://share.google/eSkMoa215Gbfahvyj</a:t>
            </a:r>
            <a:r>
              <a:rPr lang="es-US" dirty="0"/>
              <a:t> </a:t>
            </a:r>
          </a:p>
          <a:p>
            <a:r>
              <a:rPr lang="es-US" dirty="0"/>
              <a:t>Guía para el Cierre de Proyectos: Pasos + Lista de Verificación </a:t>
            </a:r>
            <a:r>
              <a:rPr lang="es-US" dirty="0">
                <a:hlinkClick r:id="rId5"/>
              </a:rPr>
              <a:t>https://thedigitalprojectmanager.com/es/gestion-de-proyectos/mejores-metodos-cierre-de-proyectos/</a:t>
            </a:r>
            <a:r>
              <a:rPr lang="es-US" dirty="0"/>
              <a:t> </a:t>
            </a:r>
          </a:p>
        </p:txBody>
      </p:sp>
    </p:spTree>
    <p:extLst>
      <p:ext uri="{BB962C8B-B14F-4D97-AF65-F5344CB8AC3E}">
        <p14:creationId xmlns:p14="http://schemas.microsoft.com/office/powerpoint/2010/main" val="69880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6451CC-D717-189A-1F38-FC629C26AA4F}"/>
              </a:ext>
            </a:extLst>
          </p:cNvPr>
          <p:cNvSpPr>
            <a:spLocks noGrp="1"/>
          </p:cNvSpPr>
          <p:nvPr>
            <p:ph sz="quarter" idx="13"/>
          </p:nvPr>
        </p:nvSpPr>
        <p:spPr>
          <a:xfrm>
            <a:off x="914087" y="472978"/>
            <a:ext cx="10363826" cy="3424107"/>
          </a:xfrm>
        </p:spPr>
        <p:txBody>
          <a:bodyPr/>
          <a:lstStyle/>
          <a:p>
            <a:pPr marL="0" indent="0">
              <a:buNone/>
            </a:pPr>
            <a:r>
              <a:rPr lang="es-MX" dirty="0"/>
              <a:t>Link de </a:t>
            </a:r>
            <a:r>
              <a:rPr lang="es-MX" dirty="0" err="1"/>
              <a:t>github</a:t>
            </a:r>
            <a:r>
              <a:rPr lang="es-MX" dirty="0"/>
              <a:t>: </a:t>
            </a:r>
            <a:r>
              <a:rPr lang="es-US" dirty="0"/>
              <a:t> </a:t>
            </a:r>
            <a:r>
              <a:rPr lang="es-US" dirty="0">
                <a:hlinkClick r:id="rId2"/>
              </a:rPr>
              <a:t>https://github.com/Angel-ortiz144/GPTI--Tema-6.git</a:t>
            </a:r>
            <a:r>
              <a:rPr lang="es-US" dirty="0"/>
              <a:t> </a:t>
            </a:r>
            <a:endParaRPr lang="es-MX" dirty="0"/>
          </a:p>
        </p:txBody>
      </p:sp>
      <p:pic>
        <p:nvPicPr>
          <p:cNvPr id="4" name="Imagen 3">
            <a:extLst>
              <a:ext uri="{FF2B5EF4-FFF2-40B4-BE49-F238E27FC236}">
                <a16:creationId xmlns:a16="http://schemas.microsoft.com/office/drawing/2014/main" id="{DF34CDC8-ADB0-48FC-A47B-B21F72EAFB79}"/>
              </a:ext>
            </a:extLst>
          </p:cNvPr>
          <p:cNvPicPr>
            <a:picLocks noChangeAspect="1"/>
          </p:cNvPicPr>
          <p:nvPr/>
        </p:nvPicPr>
        <p:blipFill>
          <a:blip r:embed="rId3"/>
          <a:stretch>
            <a:fillRect/>
          </a:stretch>
        </p:blipFill>
        <p:spPr>
          <a:xfrm>
            <a:off x="636494" y="1147482"/>
            <a:ext cx="10838330" cy="5414683"/>
          </a:xfrm>
          <a:prstGeom prst="rect">
            <a:avLst/>
          </a:prstGeom>
        </p:spPr>
      </p:pic>
    </p:spTree>
    <p:extLst>
      <p:ext uri="{BB962C8B-B14F-4D97-AF65-F5344CB8AC3E}">
        <p14:creationId xmlns:p14="http://schemas.microsoft.com/office/powerpoint/2010/main" val="1291215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833</TotalTime>
  <Words>904</Words>
  <Application>Microsoft Office PowerPoint</Application>
  <PresentationFormat>Panorámica</PresentationFormat>
  <Paragraphs>52</Paragraphs>
  <Slides>10</Slides>
  <Notes>0</Notes>
  <HiddenSlides>0</HiddenSlides>
  <MMClips>0</MMClips>
  <ScaleCrop>false</ScaleCrop>
  <HeadingPairs>
    <vt:vector size="4" baseType="variant">
      <vt:variant>
        <vt:lpstr>Tema</vt:lpstr>
      </vt:variant>
      <vt:variant>
        <vt:i4>1</vt:i4>
      </vt:variant>
      <vt:variant>
        <vt:lpstr>Títulos de diapositiva</vt:lpstr>
      </vt:variant>
      <vt:variant>
        <vt:i4>10</vt:i4>
      </vt:variant>
    </vt:vector>
  </HeadingPairs>
  <TitlesOfParts>
    <vt:vector size="11" baseType="lpstr">
      <vt:lpstr>Damask</vt:lpstr>
      <vt:lpstr>Instituto tecnológico de nacional de México  (instituto tecnológico de frontera Comalapa) </vt:lpstr>
      <vt:lpstr>Introducción </vt:lpstr>
      <vt:lpstr>JUSTIFICACIÓN</vt:lpstr>
      <vt:lpstr>Objetivos de la Práctica</vt:lpstr>
      <vt:lpstr>Medición del Éxito del Proyecto (KPIs y Resultados)</vt:lpstr>
      <vt:lpstr>Lecciones Aprendidas</vt:lpstr>
      <vt:lpstr>Documentación Final y Cierre Formal del Proyecto OAS</vt:lpstr>
      <vt:lpstr>Conclusión </vt:lpstr>
      <vt:lpstr>FUENTES DE INFORMACIÓN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ANGEL DE JESÚS MAZARIEGOS ORTIZ</cp:lastModifiedBy>
  <cp:revision>187</cp:revision>
  <dcterms:created xsi:type="dcterms:W3CDTF">2024-03-08T16:42:11Z</dcterms:created>
  <dcterms:modified xsi:type="dcterms:W3CDTF">2026-10-02T23:10:01Z</dcterms:modified>
</cp:coreProperties>
</file>